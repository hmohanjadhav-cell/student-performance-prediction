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6"/>
  </p:notes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 id="272"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00" d="100"/>
        <a:sy n="100" d="100"/>
      </p:scale>
      <p:origin x="0" y="48"/>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6DE554-70F8-4FDC-808F-0CE7FDA5BA4A}" type="datetimeFigureOut">
              <a:rPr lang="en-US" smtClean="0"/>
              <a:t>10/22/2026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32B72D-F6E2-4761-AC38-068A99AB0F3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mtClean="0"/>
          </a:p>
          <a:p>
            <a:endParaRPr lang="en-US" dirty="0"/>
          </a:p>
        </p:txBody>
      </p:sp>
      <p:sp>
        <p:nvSpPr>
          <p:cNvPr id="4" name="Slide Number Placeholder 3"/>
          <p:cNvSpPr>
            <a:spLocks noGrp="1"/>
          </p:cNvSpPr>
          <p:nvPr>
            <p:ph type="sldNum" sz="quarter" idx="10"/>
          </p:nvPr>
        </p:nvSpPr>
        <p:spPr/>
        <p:txBody>
          <a:bodyPr/>
          <a:lstStyle/>
          <a:p>
            <a:fld id="{7E32B72D-F6E2-4761-AC38-068A99AB0F3C}" type="slidenum">
              <a:rPr lang="en-US" smtClean="0"/>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F35F3B55-403A-42D0-AF36-98F96872DE3E}" type="datetimeFigureOut">
              <a:rPr lang="en-US" smtClean="0"/>
              <a:t>10/22/2026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AB2600B-19E6-4FC1-B711-FDA45A05E642}"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35F3B55-403A-42D0-AF36-98F96872DE3E}"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B2600B-19E6-4FC1-B711-FDA45A05E64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35F3B55-403A-42D0-AF36-98F96872DE3E}"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B2600B-19E6-4FC1-B711-FDA45A05E642}"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35F3B55-403A-42D0-AF36-98F96872DE3E}"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B2600B-19E6-4FC1-B711-FDA45A05E64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F35F3B55-403A-42D0-AF36-98F96872DE3E}"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B2600B-19E6-4FC1-B711-FDA45A05E64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35F3B55-403A-42D0-AF36-98F96872DE3E}"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B2600B-19E6-4FC1-B711-FDA45A05E64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5F3B55-403A-42D0-AF36-98F96872DE3E}"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B2600B-19E6-4FC1-B711-FDA45A05E64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35F3B55-403A-42D0-AF36-98F96872DE3E}"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B2600B-19E6-4FC1-B711-FDA45A05E64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35F3B55-403A-42D0-AF36-98F96872DE3E}"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AB2600B-19E6-4FC1-B711-FDA45A05E642}"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35F3B55-403A-42D0-AF36-98F96872DE3E}"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B2600B-19E6-4FC1-B711-FDA45A05E64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35F3B55-403A-42D0-AF36-98F96872DE3E}"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B2600B-19E6-4FC1-B711-FDA45A05E64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F35F3B55-403A-42D0-AF36-98F96872DE3E}" type="datetimeFigureOut">
              <a:rPr lang="en-US" smtClean="0"/>
              <a:t>10/22/2026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AB2600B-19E6-4FC1-B711-FDA45A05E642}"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scikit-learn.org/stable/?utm_source=chatgpt.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0034" y="928670"/>
            <a:ext cx="8643966" cy="2271730"/>
          </a:xfrm>
        </p:spPr>
        <p:txBody>
          <a:bodyPr>
            <a:normAutofit fontScale="90000"/>
          </a:bodyPr>
          <a:lstStyle/>
          <a:p>
            <a:pPr algn="ctr"/>
            <a:r>
              <a:rPr lang="en-US" dirty="0" smtClean="0"/>
              <a:t>Student </a:t>
            </a:r>
            <a:r>
              <a:rPr lang="en-US" dirty="0" err="1" smtClean="0"/>
              <a:t>PerformancePrediction</a:t>
            </a:r>
            <a:r>
              <a:rPr lang="en-US" dirty="0" smtClean="0"/>
              <a:t> </a:t>
            </a:r>
            <a:r>
              <a:rPr lang="en-US" dirty="0" smtClean="0"/>
              <a:t>Using Machine Learning</a:t>
            </a:r>
            <a:endParaRPr lang="en-US" dirty="0"/>
          </a:p>
        </p:txBody>
      </p:sp>
      <p:sp>
        <p:nvSpPr>
          <p:cNvPr id="3" name="Subtitle 2"/>
          <p:cNvSpPr>
            <a:spLocks noGrp="1"/>
          </p:cNvSpPr>
          <p:nvPr>
            <p:ph type="subTitle" idx="1"/>
          </p:nvPr>
        </p:nvSpPr>
        <p:spPr/>
        <p:txBody>
          <a:bodyPr/>
          <a:lstStyle/>
          <a:p>
            <a:pPr algn="ctr"/>
            <a:r>
              <a:rPr lang="en-US" dirty="0" smtClean="0"/>
              <a:t>Class: TYDS </a:t>
            </a:r>
            <a:endParaRPr lang="en-US" dirty="0" smtClean="0"/>
          </a:p>
          <a:p>
            <a:pPr algn="ctr"/>
            <a:r>
              <a:rPr lang="en-US" dirty="0" smtClean="0"/>
              <a:t>Institute</a:t>
            </a:r>
            <a:r>
              <a:rPr lang="en-US" dirty="0" smtClean="0"/>
              <a:t>: IICT, MGM University Academic </a:t>
            </a:r>
            <a:endParaRPr lang="en-US" dirty="0" smtClean="0"/>
          </a:p>
          <a:p>
            <a:pPr algn="ctr"/>
            <a:r>
              <a:rPr lang="en-US" dirty="0" smtClean="0"/>
              <a:t>Year</a:t>
            </a:r>
            <a:r>
              <a:rPr lang="en-US" dirty="0" smtClean="0"/>
              <a:t>: 2026–2027</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Student Performance Prediction Using Machine Learning</a:t>
            </a:r>
            <a:endParaRPr lang="en-US" dirty="0"/>
          </a:p>
        </p:txBody>
      </p:sp>
      <p:sp>
        <p:nvSpPr>
          <p:cNvPr id="3" name="Content Placeholder 2"/>
          <p:cNvSpPr>
            <a:spLocks noGrp="1"/>
          </p:cNvSpPr>
          <p:nvPr>
            <p:ph idx="1"/>
          </p:nvPr>
        </p:nvSpPr>
        <p:spPr>
          <a:xfrm>
            <a:off x="642910" y="2786058"/>
            <a:ext cx="8043890" cy="3538542"/>
          </a:xfrm>
        </p:spPr>
        <p:txBody>
          <a:bodyPr>
            <a:normAutofit/>
          </a:bodyPr>
          <a:lstStyle/>
          <a:p>
            <a:r>
              <a:rPr lang="en-US" sz="2000" dirty="0" smtClean="0"/>
              <a:t>Presented by: </a:t>
            </a:r>
            <a:r>
              <a:rPr lang="en-US" sz="2000" dirty="0" err="1" smtClean="0"/>
              <a:t>Himanshu</a:t>
            </a:r>
            <a:r>
              <a:rPr lang="en-US" sz="2000" dirty="0" smtClean="0"/>
              <a:t> </a:t>
            </a:r>
            <a:r>
              <a:rPr lang="en-US" sz="2000" dirty="0" err="1" smtClean="0"/>
              <a:t>Jadhav</a:t>
            </a:r>
            <a:r>
              <a:rPr lang="en-US" sz="2000" dirty="0" smtClean="0"/>
              <a:t> — Roll No. 2407048</a:t>
            </a:r>
          </a:p>
          <a:p>
            <a:r>
              <a:rPr lang="en-US" sz="2000" dirty="0" err="1" smtClean="0"/>
              <a:t>Shivam</a:t>
            </a:r>
            <a:r>
              <a:rPr lang="en-US" sz="2000" dirty="0" smtClean="0"/>
              <a:t> </a:t>
            </a:r>
            <a:r>
              <a:rPr lang="en-US" sz="2000" dirty="0" err="1" smtClean="0"/>
              <a:t>Chandankhede</a:t>
            </a:r>
            <a:r>
              <a:rPr lang="en-US" sz="2000" dirty="0" smtClean="0"/>
              <a:t> — Roll No. 2407050</a:t>
            </a:r>
          </a:p>
          <a:p>
            <a:r>
              <a:rPr lang="en-US" sz="2000" dirty="0" smtClean="0"/>
              <a:t>Class: TYDS</a:t>
            </a:r>
          </a:p>
          <a:p>
            <a:r>
              <a:rPr lang="en-US" sz="2000" dirty="0" smtClean="0"/>
              <a:t>Institute: IICT, MGM University</a:t>
            </a:r>
          </a:p>
          <a:p>
            <a:r>
              <a:rPr lang="en-US" sz="2000" dirty="0" smtClean="0"/>
              <a:t>Project Guide: Mrs. </a:t>
            </a:r>
            <a:r>
              <a:rPr lang="en-US" sz="2000" dirty="0" err="1" smtClean="0"/>
              <a:t>Priyanka</a:t>
            </a:r>
            <a:r>
              <a:rPr lang="en-US" sz="2000" dirty="0" smtClean="0"/>
              <a:t> </a:t>
            </a:r>
            <a:r>
              <a:rPr lang="en-US" sz="2000" dirty="0" err="1" smtClean="0"/>
              <a:t>Hajare</a:t>
            </a:r>
            <a:r>
              <a:rPr lang="en-US" sz="2000" dirty="0" smtClean="0"/>
              <a:t> Ma’am</a:t>
            </a:r>
          </a:p>
          <a:p>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a:t>
            </a:r>
            <a:endParaRPr lang="en-US" dirty="0"/>
          </a:p>
        </p:txBody>
      </p:sp>
      <p:sp>
        <p:nvSpPr>
          <p:cNvPr id="3" name="Content Placeholder 2"/>
          <p:cNvSpPr>
            <a:spLocks noGrp="1"/>
          </p:cNvSpPr>
          <p:nvPr>
            <p:ph idx="1"/>
          </p:nvPr>
        </p:nvSpPr>
        <p:spPr/>
        <p:txBody>
          <a:bodyPr>
            <a:normAutofit/>
          </a:bodyPr>
          <a:lstStyle/>
          <a:p>
            <a:r>
              <a:rPr lang="en-US" sz="2400" dirty="0" smtClean="0"/>
              <a:t>Student performance depends on several factors, such as study time, attendance, previous grades, and other academic and personal factors. Identifying students who may need additional support can be difficult when many records must be analyzed manually.</a:t>
            </a:r>
          </a:p>
          <a:p>
            <a:r>
              <a:rPr lang="en-US" sz="2400" dirty="0" smtClean="0"/>
              <a:t>This project uses Machine Learning to analyze student-related data and predict student performance. It can help identify learning patterns and support better academic planning.</a:t>
            </a:r>
          </a:p>
          <a:p>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 and Objectives</a:t>
            </a:r>
            <a:endParaRPr lang="en-US" dirty="0"/>
          </a:p>
        </p:txBody>
      </p:sp>
      <p:sp>
        <p:nvSpPr>
          <p:cNvPr id="3" name="Content Placeholder 2"/>
          <p:cNvSpPr>
            <a:spLocks noGrp="1"/>
          </p:cNvSpPr>
          <p:nvPr>
            <p:ph idx="1"/>
          </p:nvPr>
        </p:nvSpPr>
        <p:spPr/>
        <p:txBody>
          <a:bodyPr>
            <a:normAutofit fontScale="92500"/>
          </a:bodyPr>
          <a:lstStyle/>
          <a:p>
            <a:r>
              <a:rPr lang="en-US" dirty="0" smtClean="0"/>
              <a:t>Aim: To develop a Machine Learning model that predicts student performance using relevant student data.</a:t>
            </a:r>
          </a:p>
          <a:p>
            <a:r>
              <a:rPr lang="en-US" dirty="0" smtClean="0"/>
              <a:t>Objectives:</a:t>
            </a:r>
          </a:p>
          <a:p>
            <a:r>
              <a:rPr lang="en-US" dirty="0" smtClean="0"/>
              <a:t>Understand and analyze the student dataset.</a:t>
            </a:r>
          </a:p>
          <a:p>
            <a:r>
              <a:rPr lang="en-US" dirty="0" smtClean="0"/>
              <a:t>Clean and preprocess the data.</a:t>
            </a:r>
          </a:p>
          <a:p>
            <a:r>
              <a:rPr lang="en-US" dirty="0" smtClean="0"/>
              <a:t>Identify important features affecting performance.</a:t>
            </a:r>
          </a:p>
          <a:p>
            <a:r>
              <a:rPr lang="en-US" dirty="0" smtClean="0"/>
              <a:t>Train a suitable Machine Learning model.</a:t>
            </a:r>
          </a:p>
          <a:p>
            <a:r>
              <a:rPr lang="en-US" dirty="0" smtClean="0"/>
              <a:t>Evaluate the model using appropriate performance metrics.</a:t>
            </a:r>
          </a:p>
          <a:p>
            <a:r>
              <a:rPr lang="en-US" dirty="0" smtClean="0"/>
              <a:t>Demonstrate the prediction system.</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Dataset Description and Understanding</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dataset contains student-related information used to predict academic performance.</a:t>
            </a:r>
          </a:p>
          <a:p>
            <a:r>
              <a:rPr lang="en-US" dirty="0" smtClean="0"/>
              <a:t>Dataset details:</a:t>
            </a:r>
          </a:p>
          <a:p>
            <a:r>
              <a:rPr lang="en-US" dirty="0" smtClean="0"/>
              <a:t>Dataset source: Mention the actual source used in your project.</a:t>
            </a:r>
          </a:p>
          <a:p>
            <a:r>
              <a:rPr lang="en-US" dirty="0" smtClean="0"/>
              <a:t>Input features: Student attributes such as study time, attendance, previous grades, or other available variables.</a:t>
            </a:r>
          </a:p>
          <a:p>
            <a:r>
              <a:rPr lang="en-US" dirty="0" smtClean="0"/>
              <a:t>Target variable: The performance value or category that the model predicts.</a:t>
            </a:r>
          </a:p>
          <a:p>
            <a:r>
              <a:rPr lang="en-US" dirty="0" smtClean="0"/>
              <a:t>Data types: Numerical and/or categorical, depending on the dataset.</a:t>
            </a:r>
          </a:p>
          <a:p>
            <a:r>
              <a:rPr lang="en-US" dirty="0" smtClean="0"/>
              <a:t>Purpose: To identify patterns in student data and predict performance.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Preprocessing</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Data preprocessing prepares raw data for Machine Learning.</a:t>
            </a:r>
          </a:p>
          <a:p>
            <a:r>
              <a:rPr lang="en-US" dirty="0" smtClean="0"/>
              <a:t>Steps involved:</a:t>
            </a:r>
          </a:p>
          <a:p>
            <a:r>
              <a:rPr lang="en-US" dirty="0" smtClean="0"/>
              <a:t>Data loading: Import the dataset using Pandas.</a:t>
            </a:r>
          </a:p>
          <a:p>
            <a:r>
              <a:rPr lang="en-US" dirty="0" smtClean="0"/>
              <a:t>Data inspection: Check rows, columns, data types, and statistical summaries.</a:t>
            </a:r>
          </a:p>
          <a:p>
            <a:r>
              <a:rPr lang="en-US" dirty="0" smtClean="0"/>
              <a:t>Missing values: Identify and handle missing data.</a:t>
            </a:r>
          </a:p>
          <a:p>
            <a:r>
              <a:rPr lang="en-US" dirty="0" smtClean="0"/>
              <a:t>Duplicate records: Check for repeated entries.</a:t>
            </a:r>
          </a:p>
          <a:p>
            <a:r>
              <a:rPr lang="en-US" dirty="0" smtClean="0"/>
              <a:t>Categorical encoding: Convert categorical values into numerical form when required.</a:t>
            </a:r>
          </a:p>
          <a:p>
            <a:r>
              <a:rPr lang="en-US" dirty="0" smtClean="0"/>
              <a:t>Feature selection: Select relevant input variables.</a:t>
            </a:r>
          </a:p>
          <a:p>
            <a:r>
              <a:rPr lang="en-US" dirty="0" smtClean="0"/>
              <a:t>Train-test split: Divide the dataset into training and testing sets.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 Workflow</a:t>
            </a:r>
            <a:endParaRPr lang="en-US" dirty="0"/>
          </a:p>
        </p:txBody>
      </p:sp>
      <p:sp>
        <p:nvSpPr>
          <p:cNvPr id="3" name="Content Placeholder 2"/>
          <p:cNvSpPr>
            <a:spLocks noGrp="1"/>
          </p:cNvSpPr>
          <p:nvPr>
            <p:ph idx="1"/>
          </p:nvPr>
        </p:nvSpPr>
        <p:spPr/>
        <p:txBody>
          <a:bodyPr/>
          <a:lstStyle/>
          <a:p>
            <a:r>
              <a:rPr lang="en-US" dirty="0" smtClean="0"/>
              <a:t>Student Dataset</a:t>
            </a:r>
          </a:p>
          <a:p>
            <a:r>
              <a:rPr lang="en-US" dirty="0" smtClean="0"/>
              <a:t>Data Understanding and Preprocessing</a:t>
            </a:r>
          </a:p>
          <a:p>
            <a:r>
              <a:rPr lang="en-US" dirty="0" smtClean="0"/>
              <a:t>Feature Selection and Train-Test Split</a:t>
            </a:r>
          </a:p>
          <a:p>
            <a:r>
              <a:rPr lang="en-US" dirty="0" smtClean="0"/>
              <a:t>Machine Learning Model Training</a:t>
            </a:r>
          </a:p>
          <a:p>
            <a:r>
              <a:rPr lang="en-US" dirty="0" smtClean="0"/>
              <a:t>Performance Evaluation</a:t>
            </a:r>
          </a:p>
          <a:p>
            <a:r>
              <a:rPr lang="en-US" dirty="0" smtClean="0"/>
              <a:t>Student Performance Prediction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Machine Learning Model Implementation</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model learns patterns from historical student data and uses those patterns to make predictions.</a:t>
            </a:r>
          </a:p>
          <a:p>
            <a:r>
              <a:rPr lang="en-US" dirty="0" smtClean="0"/>
              <a:t>Tools and technologies:</a:t>
            </a:r>
          </a:p>
          <a:p>
            <a:r>
              <a:rPr lang="en-US" dirty="0" smtClean="0"/>
              <a:t>Python — programming language</a:t>
            </a:r>
          </a:p>
          <a:p>
            <a:r>
              <a:rPr lang="en-US" dirty="0" smtClean="0"/>
              <a:t>Pandas — data handling</a:t>
            </a:r>
          </a:p>
          <a:p>
            <a:r>
              <a:rPr lang="en-US" dirty="0" err="1" smtClean="0"/>
              <a:t>NumPy</a:t>
            </a:r>
            <a:r>
              <a:rPr lang="en-US" dirty="0" smtClean="0"/>
              <a:t> — numerical operations</a:t>
            </a:r>
          </a:p>
          <a:p>
            <a:r>
              <a:rPr lang="en-US" dirty="0" err="1" smtClean="0"/>
              <a:t>Scikit</a:t>
            </a:r>
            <a:r>
              <a:rPr lang="en-US" dirty="0" smtClean="0"/>
              <a:t>-learn — Machine Learning algorithms and model evaluation</a:t>
            </a:r>
          </a:p>
          <a:p>
            <a:r>
              <a:rPr lang="en-US" dirty="0" smtClean="0"/>
              <a:t>Google </a:t>
            </a:r>
            <a:r>
              <a:rPr lang="en-US" dirty="0" err="1" smtClean="0"/>
              <a:t>Colab</a:t>
            </a:r>
            <a:r>
              <a:rPr lang="en-US" dirty="0" smtClean="0"/>
              <a:t> or the environment used for implementation</a:t>
            </a:r>
          </a:p>
          <a:p>
            <a:r>
              <a:rPr lang="en-US" dirty="0" smtClean="0"/>
              <a:t>Implementation steps:</a:t>
            </a:r>
          </a:p>
          <a:p>
            <a:r>
              <a:rPr lang="en-US" dirty="0" smtClean="0"/>
              <a:t>Load the prepared dataset.</a:t>
            </a:r>
          </a:p>
          <a:p>
            <a:r>
              <a:rPr lang="en-US" dirty="0" smtClean="0"/>
              <a:t>Separate input features and target variable.</a:t>
            </a:r>
          </a:p>
          <a:p>
            <a:r>
              <a:rPr lang="en-US" dirty="0" smtClean="0"/>
              <a:t>Split data into training and testing sets.</a:t>
            </a:r>
          </a:p>
          <a:p>
            <a:r>
              <a:rPr lang="en-US" dirty="0" smtClean="0"/>
              <a:t>Train the selected Machine Learning algorithm.</a:t>
            </a:r>
          </a:p>
          <a:p>
            <a:r>
              <a:rPr lang="en-US" dirty="0" smtClean="0"/>
              <a:t>Generate predictions using the trained model.</a:t>
            </a:r>
          </a:p>
          <a:p>
            <a:r>
              <a:rPr lang="en-US" dirty="0" smtClean="0"/>
              <a:t>Important: Insert the actual algorithm used in your code, such as Linear Regression for numerical marks or a classification algorithm for performance categories.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Model Performance and Evaluation</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Model evaluation measures how well the trained model predicts student performance.</a:t>
            </a:r>
          </a:p>
          <a:p>
            <a:r>
              <a:rPr lang="en-US" dirty="0" smtClean="0"/>
              <a:t>For numerical prediction (regression):</a:t>
            </a:r>
          </a:p>
          <a:p>
            <a:r>
              <a:rPr lang="en-US" dirty="0" smtClean="0"/>
              <a:t>MAE: Measures the average absolute prediction error.</a:t>
            </a:r>
          </a:p>
          <a:p>
            <a:r>
              <a:rPr lang="en-US" dirty="0" smtClean="0"/>
              <a:t>RMSE: Measures prediction error while penalizing larger errors.</a:t>
            </a:r>
          </a:p>
          <a:p>
            <a:r>
              <a:rPr lang="en-US" dirty="0" smtClean="0"/>
              <a:t>R² score: Indicates how well the model explains variation in the target.</a:t>
            </a:r>
          </a:p>
          <a:p>
            <a:r>
              <a:rPr lang="en-US" dirty="0" smtClean="0"/>
              <a:t>For category prediction (classification):</a:t>
            </a:r>
          </a:p>
          <a:p>
            <a:r>
              <a:rPr lang="en-US" dirty="0" smtClean="0"/>
              <a:t>Accuracy: Percentage of correct predictions.</a:t>
            </a:r>
          </a:p>
          <a:p>
            <a:r>
              <a:rPr lang="en-US" dirty="0" smtClean="0"/>
              <a:t>Precision: How many predicted positive cases were correct.</a:t>
            </a:r>
          </a:p>
          <a:p>
            <a:r>
              <a:rPr lang="en-US" dirty="0" smtClean="0"/>
              <a:t>Recall: How many actual positive cases were identified.</a:t>
            </a:r>
          </a:p>
          <a:p>
            <a:r>
              <a:rPr lang="en-US" dirty="0" smtClean="0"/>
              <a:t>F1-score: Combines precision and recall.</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and Interpretation</a:t>
            </a:r>
            <a:endParaRPr lang="en-US" dirty="0"/>
          </a:p>
        </p:txBody>
      </p:sp>
      <p:sp>
        <p:nvSpPr>
          <p:cNvPr id="3" name="Content Placeholder 2"/>
          <p:cNvSpPr>
            <a:spLocks noGrp="1"/>
          </p:cNvSpPr>
          <p:nvPr>
            <p:ph idx="1"/>
          </p:nvPr>
        </p:nvSpPr>
        <p:spPr/>
        <p:txBody>
          <a:bodyPr/>
          <a:lstStyle/>
          <a:p>
            <a:r>
              <a:rPr lang="en-US" dirty="0" smtClean="0"/>
              <a:t>The trained model generates predictions based on the patterns learned from the dataset.</a:t>
            </a:r>
          </a:p>
          <a:p>
            <a:pPr>
              <a:buNone/>
            </a:pPr>
            <a:r>
              <a:rPr lang="en-US" b="1" dirty="0" smtClean="0"/>
              <a:t>Result statement: </a:t>
            </a:r>
            <a:r>
              <a:rPr lang="en-US" dirty="0" smtClean="0"/>
              <a:t>“The project demonstrates how Machine Learning can be applied to student data to predict academic performance. The usefulness of the predictions depends on the quality of the dataset, the selected features, and the performance of the trained model.”</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r>
              <a:rPr lang="en-US" dirty="0" smtClean="0"/>
              <a:t>The Student Performance Prediction project demonstrates the application of Machine Learning to educational data. By analyzing relevant student attributes, the system can identify patterns and generate performance predictions. Such predictions may support academic planning and help educators identify students who could benefit from additional assistance.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Scope</a:t>
            </a:r>
            <a:endParaRPr lang="en-US" dirty="0"/>
          </a:p>
        </p:txBody>
      </p:sp>
      <p:sp>
        <p:nvSpPr>
          <p:cNvPr id="3" name="Content Placeholder 2"/>
          <p:cNvSpPr>
            <a:spLocks noGrp="1"/>
          </p:cNvSpPr>
          <p:nvPr>
            <p:ph idx="1"/>
          </p:nvPr>
        </p:nvSpPr>
        <p:spPr/>
        <p:txBody>
          <a:bodyPr/>
          <a:lstStyle/>
          <a:p>
            <a:r>
              <a:rPr lang="en-US" dirty="0" smtClean="0"/>
              <a:t>Use a larger and more diverse dataset.</a:t>
            </a:r>
          </a:p>
          <a:p>
            <a:r>
              <a:rPr lang="en-US" dirty="0" smtClean="0"/>
              <a:t>Explore and compare suitable Machine Learning algorithms.</a:t>
            </a:r>
          </a:p>
          <a:p>
            <a:r>
              <a:rPr lang="en-US" dirty="0" smtClean="0"/>
              <a:t>Improve the model using relevant features.</a:t>
            </a:r>
          </a:p>
          <a:p>
            <a:r>
              <a:rPr lang="en-US" dirty="0" smtClean="0"/>
              <a:t>Develop a user-friendly dashboard.</a:t>
            </a:r>
          </a:p>
          <a:p>
            <a:r>
              <a:rPr lang="en-US" dirty="0" smtClean="0"/>
              <a:t>Provide appropriate learning-support recommendations.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lnSpcReduction="10000"/>
          </a:bodyPr>
          <a:lstStyle/>
          <a:p>
            <a:r>
              <a:rPr lang="en-US" dirty="0" smtClean="0"/>
              <a:t>Cortez, P., &amp; Silva, A. (2008). Using Data Mining to Predict Secondary School Student Performance. Proceedings of the 5th Future Business Technology Conference.</a:t>
            </a:r>
          </a:p>
          <a:p>
            <a:r>
              <a:rPr lang="en-US" dirty="0" smtClean="0"/>
              <a:t>Romero, C., &amp; Ventura, S. (2020). Educational Data Mining and Learning Analytics: An Updated Survey. WIREs Data Mining and Knowledge Discovery.</a:t>
            </a:r>
          </a:p>
          <a:p>
            <a:r>
              <a:rPr lang="en-US" dirty="0" err="1" smtClean="0"/>
              <a:t>Scikit</a:t>
            </a:r>
            <a:r>
              <a:rPr lang="en-US" dirty="0" smtClean="0"/>
              <a:t>-learn documentation — </a:t>
            </a:r>
            <a:r>
              <a:rPr lang="en-US" dirty="0" smtClean="0">
                <a:hlinkClick r:id="rId2"/>
              </a:rPr>
              <a:t>Machine Learning tools and documentation</a:t>
            </a:r>
            <a:r>
              <a:rPr lang="en-US" dirty="0" smtClean="0"/>
              <a:t>.</a:t>
            </a:r>
          </a:p>
          <a:p>
            <a:r>
              <a:rPr lang="en-US" dirty="0" smtClean="0"/>
              <a:t>Add the actual dataset source used in your implementation.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4546" y="3286124"/>
            <a:ext cx="5214974" cy="830997"/>
          </a:xfrm>
          <a:prstGeom prst="rect">
            <a:avLst/>
          </a:prstGeom>
        </p:spPr>
        <p:txBody>
          <a:bodyPr wrap="square">
            <a:spAutoFit/>
          </a:bodyPr>
          <a:lstStyle/>
          <a:p>
            <a:pPr algn="ctr"/>
            <a:r>
              <a:rPr lang="en-US" sz="4800" dirty="0" smtClean="0">
                <a:solidFill>
                  <a:srgbClr val="C00000"/>
                </a:solidFill>
              </a:rPr>
              <a:t>THANK YOU!</a:t>
            </a:r>
            <a:endParaRPr lang="en-US" sz="4800" dirty="0">
              <a:solidFill>
                <a:srgbClr val="C00000"/>
              </a:solidFill>
            </a:endParaRPr>
          </a:p>
        </p:txBody>
      </p:sp>
      <p:sp>
        <p:nvSpPr>
          <p:cNvPr id="3074" name="AutoShape 2" descr="C:\Users\LENOVO\AppData\Local\Temp\{EC8E6464-486A-4101-93F1-71A9CD0D0467}.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6" name="AutoShape 4" descr="C:\Users\LENOVO\AppData\Local\Temp\{EC8E6464-486A-4101-93F1-71A9CD0D0467}.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8" name="AutoShape 6" descr="C:\Users\LENOVO\AppData\Local\Temp\{B7903F25-A724-46BF-A93E-EAD7EB607DF4}.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15</TotalTime>
  <Words>829</Words>
  <Application>Microsoft Office PowerPoint</Application>
  <PresentationFormat>On-screen Show (4:3)</PresentationFormat>
  <Paragraphs>91</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Flow</vt:lpstr>
      <vt:lpstr>Student PerformancePrediction Using Machine Learning</vt:lpstr>
      <vt:lpstr>Student Performance Prediction Using Machine Learning</vt:lpstr>
      <vt:lpstr>Problem Statement</vt:lpstr>
      <vt:lpstr>Aim and Objectives</vt:lpstr>
      <vt:lpstr>Dataset Description and Understanding</vt:lpstr>
      <vt:lpstr>Data Preprocessing</vt:lpstr>
      <vt:lpstr>Proposed System Workflow</vt:lpstr>
      <vt:lpstr>Machine Learning Model Implementation</vt:lpstr>
      <vt:lpstr>Model Performance and Evaluation</vt:lpstr>
      <vt:lpstr>Results and Interpretation</vt:lpstr>
      <vt:lpstr>Conclusion</vt:lpstr>
      <vt:lpstr>Future Scope</vt:lpstr>
      <vt:lpstr>References</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PerformancePrediction Using Machine Learning</dc:title>
  <dc:creator>LENOVO</dc:creator>
  <cp:lastModifiedBy>LENOVO</cp:lastModifiedBy>
  <cp:revision>2</cp:revision>
  <dcterms:created xsi:type="dcterms:W3CDTF">2026-10-22T04:09:37Z</dcterms:created>
  <dcterms:modified xsi:type="dcterms:W3CDTF">2026-10-22T04:24:53Z</dcterms:modified>
</cp:coreProperties>
</file>